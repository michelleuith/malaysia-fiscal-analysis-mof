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" charset="1" panose="00000500000000000000"/>
      <p:regular r:id="rId16"/>
    </p:embeddedFont>
    <p:embeddedFont>
      <p:font typeface="Poppins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4824">
            <a:off x="11550427" y="1442943"/>
            <a:ext cx="3700557" cy="7401115"/>
            <a:chOff x="0" y="0"/>
            <a:chExt cx="317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17272" t="0" r="-17272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4824">
            <a:off x="15322128" y="5774327"/>
            <a:ext cx="1649655" cy="329931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4824">
            <a:off x="9829629" y="1213363"/>
            <a:ext cx="1649655" cy="3299310"/>
            <a:chOff x="0" y="0"/>
            <a:chExt cx="317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962025"/>
            <a:ext cx="3344196" cy="4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322338"/>
            <a:ext cx="6927094" cy="259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60"/>
              </a:lnSpc>
              <a:spcBef>
                <a:spcPct val="0"/>
              </a:spcBef>
            </a:pPr>
            <a:r>
              <a:rPr lang="en-US" b="true" sz="4400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STRENGTHENING FINANCIAL RESILIENCE FOR MALAYSIA’S SUSTAINABLE FUTURE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21696"/>
            <a:ext cx="7052320" cy="74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b="true" sz="24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KEYNOTE ADDRESS AT THE 2025 MALAYSIA SUSTAINABLE FUTURE SUMMIT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8882971"/>
            <a:ext cx="7003502" cy="74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by Liew Zhi Tong, Uithiswary a/p Velan, Priveeta Gobi Krishnan and Yeo Hui Yi | Ministry of Finance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01589" y="1552976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4871105" y="9191625"/>
            <a:ext cx="2579980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9247" y="1009650"/>
            <a:ext cx="12491848" cy="122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b="true" sz="4073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WELCOME TO THE 2025 MALAYSIA SUSTAINABLE FUTURE SUMMIT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1589" y="2640138"/>
            <a:ext cx="14559506" cy="587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Malaysia’s governmental structure is built upon ministries that drive policies into actionable outcomes. Among the 20 ministries, the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Ministry of Finance (MOF)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 plays a crucial role in managing the nation’s financial resources, economic policies, and fiscal sustainability. Established in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1957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, MOF formulates and implements fiscal policies, manages taxation, oversees government procurement, and ensures sustainable economic growth.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presentation will provide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data-driven insights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 into Malaysia’s financial landscape, focusing on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federal revenue, budget allocations, and development expenditures from 2010 to 2022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. These insights will highlight their alignment with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Sustainable Development Goals (SDGs)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 and strategies for economic resilience.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compelling visuals and strategic analysis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, we will explore how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fiscal policies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, 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 diversification, and public-private partnerships</a:t>
            </a:r>
            <a:r>
              <a:rPr lang="en-US" sz="2399" b="true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 can foster</a:t>
            </a:r>
            <a:r>
              <a:rPr lang="en-US" sz="23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long-term financial stability and drive sustainable national growth.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01589" y="1552976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144562" y="3222018"/>
            <a:ext cx="9836815" cy="4591014"/>
          </a:xfrm>
          <a:custGeom>
            <a:avLst/>
            <a:gdLst/>
            <a:ahLst/>
            <a:cxnLst/>
            <a:rect r="r" b="b" t="t" l="l"/>
            <a:pathLst>
              <a:path h="4591014" w="9836815">
                <a:moveTo>
                  <a:pt x="0" y="0"/>
                </a:moveTo>
                <a:lnTo>
                  <a:pt x="9836815" y="0"/>
                </a:lnTo>
                <a:lnTo>
                  <a:pt x="9836815" y="4591014"/>
                </a:lnTo>
                <a:lnTo>
                  <a:pt x="0" y="4591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" r="0" b="-83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71105" y="9191625"/>
            <a:ext cx="2603954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247" y="1103636"/>
            <a:ext cx="12505505" cy="12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4200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1 – GOVERNMENT REVENUE TRENDS (BAR CHART)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804867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Key Highlights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372488"/>
            <a:ext cx="6763224" cy="223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Revenue fluctuations, especially the significant decline in 2020 due to COVID-19.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The need for diversified revenue sources to mitigate external shocks.</a:t>
            </a:r>
          </a:p>
          <a:p>
            <a:pPr algn="just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The proposal for a Revenue Stabilization Fund to maintain financial resilience.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452621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044814"/>
            <a:ext cx="6763224" cy="746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9"/>
              </a:lnSpc>
            </a:pPr>
            <a:r>
              <a:rPr lang="en-US" sz="20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Bar chart showing government revenue from 2010–2022.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711" y="6614937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Considerations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205106"/>
            <a:ext cx="6763224" cy="240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Red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highlight for the lowest revenue year (2010).</a:t>
            </a:r>
          </a:p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Green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highlight for the highest revenue year.</a:t>
            </a:r>
          </a:p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Remove</a:t>
            </a: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gridlines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for clarity.</a:t>
            </a:r>
          </a:p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Annotations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explaining key events.</a:t>
            </a:r>
          </a:p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labels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for highest and lowest matched the color of its bar for clarity.</a:t>
            </a:r>
          </a:p>
          <a:p>
            <a:pPr algn="just" marL="416842" indent="-208421" lvl="1">
              <a:lnSpc>
                <a:spcPts val="2703"/>
              </a:lnSpc>
              <a:buFont typeface="Arial"/>
              <a:buChar char="•"/>
            </a:pP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The title is on the </a:t>
            </a:r>
            <a:r>
              <a:rPr lang="en-US" b="true" sz="193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top right side</a:t>
            </a:r>
            <a:r>
              <a:rPr lang="en-US" sz="193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73464" y="8126284"/>
            <a:ext cx="7928136" cy="20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  <a:spcBef>
                <a:spcPct val="0"/>
              </a:spcBef>
            </a:pPr>
            <a:r>
              <a:rPr lang="en-US" sz="112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Data source : https://ekonomi.gov.my/en/socio-economic-statistics/economic-statistics/public-sector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01589" y="1552976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809232" y="2945624"/>
            <a:ext cx="9031221" cy="5527379"/>
          </a:xfrm>
          <a:custGeom>
            <a:avLst/>
            <a:gdLst/>
            <a:ahLst/>
            <a:cxnLst/>
            <a:rect r="r" b="b" t="t" l="l"/>
            <a:pathLst>
              <a:path h="5527379" w="9031221">
                <a:moveTo>
                  <a:pt x="0" y="0"/>
                </a:moveTo>
                <a:lnTo>
                  <a:pt x="9031221" y="0"/>
                </a:lnTo>
                <a:lnTo>
                  <a:pt x="9031221" y="5527378"/>
                </a:lnTo>
                <a:lnTo>
                  <a:pt x="0" y="5527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71105" y="9191625"/>
            <a:ext cx="2603954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247" y="1103636"/>
            <a:ext cx="12505505" cy="12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4200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2 – BREAKDOWN OF EXPENDITURE (HORIZONTAL BAR CHART)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9711" y="4125188"/>
            <a:ext cx="5283116" cy="58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b="true" sz="25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Key Highlights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9711" y="4702334"/>
            <a:ext cx="6763224" cy="2121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High spending on salaries and debt payments limits financial flexibility.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More strategic resource allocation is needed for education, healthcare, and infrastructure.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Debt restructuring and performance-based pay systems can improve efficiency.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521787"/>
            <a:ext cx="5283116" cy="58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b="true" sz="25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23504"/>
            <a:ext cx="6763224" cy="1063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Horizontal bar chart showing major expenditure components in</a:t>
            </a:r>
            <a:r>
              <a:rPr lang="en-US" sz="1999" b="true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2019</a:t>
            </a:r>
            <a:r>
              <a:rPr lang="en-US" sz="19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with a selectable filter to view data for other years from 2010 to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711" y="6761358"/>
            <a:ext cx="5283116" cy="584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b="true" sz="25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Considerations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361052"/>
            <a:ext cx="6763224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Use a </a:t>
            </a: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bar chart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for clear category comparison.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Orange color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for bars to maintain clarity.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Remove gridlines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for a cleaner look.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Add a</a:t>
            </a: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slicer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to explore yearly trends.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Include data labels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for precise values.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09232" y="8645993"/>
            <a:ext cx="7928136" cy="20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  <a:spcBef>
                <a:spcPct val="0"/>
              </a:spcBef>
            </a:pPr>
            <a:r>
              <a:rPr lang="en-US" sz="112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Data source : https://ekonomi.gov.my/en/socio-economic-statistics/economic-statistics/public-sector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01589" y="1552976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896450" y="2965521"/>
            <a:ext cx="8972505" cy="5529882"/>
          </a:xfrm>
          <a:custGeom>
            <a:avLst/>
            <a:gdLst/>
            <a:ahLst/>
            <a:cxnLst/>
            <a:rect r="r" b="b" t="t" l="l"/>
            <a:pathLst>
              <a:path h="5529882" w="8972505">
                <a:moveTo>
                  <a:pt x="0" y="0"/>
                </a:moveTo>
                <a:lnTo>
                  <a:pt x="8972505" y="0"/>
                </a:lnTo>
                <a:lnTo>
                  <a:pt x="8972505" y="5529882"/>
                </a:lnTo>
                <a:lnTo>
                  <a:pt x="0" y="5529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871105" y="9191625"/>
            <a:ext cx="2603954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69247" y="1103636"/>
            <a:ext cx="12505505" cy="1265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0"/>
              </a:lnSpc>
              <a:spcBef>
                <a:spcPct val="0"/>
              </a:spcBef>
            </a:pPr>
            <a:r>
              <a:rPr lang="en-US" b="true" sz="4200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3 - DEVELOPMENT EXPENDITURE BREAKDOWN (HORIZONTAL BAR CHART)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754839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Key Highlights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322460"/>
            <a:ext cx="7423357" cy="2840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Education and transport receive the largest allocations, reflecting the government's focus on human capital and infrastructure development.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Healthcare, agriculture, and social programs receive comparatively lower funding, which may impact social well-being and economic resilience.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A reassessment of expenditure priorities is needed to ensure a balanced allocation that supports long-term economic stability and national development.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284508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Visual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76701"/>
            <a:ext cx="7423357" cy="954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Horizontal bar chart showing the distribution of development expenditure by category for the year </a:t>
            </a: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2022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with a selectable filter to view data for other years from 2010 to 2022.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711" y="7085186"/>
            <a:ext cx="5283116" cy="545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</a:pPr>
            <a:r>
              <a:rPr lang="en-US" b="true" sz="239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Considerations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7675355"/>
            <a:ext cx="7423357" cy="1897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Horizontal bar format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for easy comparison across sectors.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Plain </a:t>
            </a: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red color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for bars to maintain clarity.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Add a</a:t>
            </a: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 slicer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to explore yearly trends.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labels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on each bar to ensure accurate interpretation of values.</a:t>
            </a:r>
          </a:p>
          <a:p>
            <a:pPr algn="just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8C52FF"/>
                </a:solidFill>
                <a:latin typeface="Poppins Bold"/>
                <a:ea typeface="Poppins Bold"/>
                <a:cs typeface="Poppins Bold"/>
                <a:sym typeface="Poppins Bold"/>
              </a:rPr>
              <a:t>Removal of gridlines </a:t>
            </a:r>
            <a:r>
              <a:rPr lang="en-US" sz="18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and axis lines to reduce visual clutter.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8614454"/>
            <a:ext cx="7928136" cy="209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  <a:spcBef>
                <a:spcPct val="0"/>
              </a:spcBef>
            </a:pPr>
            <a:r>
              <a:rPr lang="en-US" sz="112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Data source : https://ekonomi.gov.my/en/socio-economic-statistics/economic-statistics/public-sector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9247" y="1449877"/>
            <a:ext cx="9889496" cy="89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24"/>
              </a:lnSpc>
              <a:spcBef>
                <a:spcPct val="0"/>
              </a:spcBef>
            </a:pPr>
            <a:r>
              <a:rPr lang="en-US" b="true" sz="5673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ALIGNMENT WITH SDGS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393984"/>
            <a:ext cx="2238290" cy="1048552"/>
            <a:chOff x="0" y="0"/>
            <a:chExt cx="2984387" cy="139807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2984387" cy="1398070"/>
              <a:chOff x="0" y="0"/>
              <a:chExt cx="677591" cy="31742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77591" cy="317425"/>
              </a:xfrm>
              <a:custGeom>
                <a:avLst/>
                <a:gdLst/>
                <a:ahLst/>
                <a:cxnLst/>
                <a:rect r="r" b="b" t="t" l="l"/>
                <a:pathLst>
                  <a:path h="317425" w="677591">
                    <a:moveTo>
                      <a:pt x="158713" y="0"/>
                    </a:moveTo>
                    <a:lnTo>
                      <a:pt x="518879" y="0"/>
                    </a:lnTo>
                    <a:cubicBezTo>
                      <a:pt x="560972" y="0"/>
                      <a:pt x="601341" y="16721"/>
                      <a:pt x="631105" y="46486"/>
                    </a:cubicBezTo>
                    <a:cubicBezTo>
                      <a:pt x="660870" y="76250"/>
                      <a:pt x="677591" y="116619"/>
                      <a:pt x="677591" y="158713"/>
                    </a:cubicBezTo>
                    <a:lnTo>
                      <a:pt x="677591" y="158713"/>
                    </a:lnTo>
                    <a:cubicBezTo>
                      <a:pt x="677591" y="246367"/>
                      <a:pt x="606533" y="317425"/>
                      <a:pt x="518879" y="317425"/>
                    </a:cubicBezTo>
                    <a:lnTo>
                      <a:pt x="158713" y="317425"/>
                    </a:lnTo>
                    <a:cubicBezTo>
                      <a:pt x="71058" y="317425"/>
                      <a:pt x="0" y="246367"/>
                      <a:pt x="0" y="158713"/>
                    </a:cubicBezTo>
                    <a:lnTo>
                      <a:pt x="0" y="158713"/>
                    </a:lnTo>
                    <a:cubicBezTo>
                      <a:pt x="0" y="71058"/>
                      <a:pt x="71058" y="0"/>
                      <a:pt x="15871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rnd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677591" cy="384100"/>
              </a:xfrm>
              <a:prstGeom prst="rect">
                <a:avLst/>
              </a:prstGeom>
            </p:spPr>
            <p:txBody>
              <a:bodyPr anchor="ctr" rtlCol="false" tIns="44196" lIns="44196" bIns="44196" rIns="44196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AutoShape 7" id="7"/>
            <p:cNvSpPr/>
            <p:nvPr/>
          </p:nvSpPr>
          <p:spPr>
            <a:xfrm>
              <a:off x="763852" y="699035"/>
              <a:ext cx="1456684" cy="0"/>
            </a:xfrm>
            <a:prstGeom prst="line">
              <a:avLst/>
            </a:prstGeom>
            <a:ln cap="rnd" w="38100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2409680" y="2403671"/>
            <a:ext cx="3363089" cy="6726177"/>
            <a:chOff x="0" y="0"/>
            <a:chExt cx="317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147385" t="0" r="-52802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871105" y="9191625"/>
            <a:ext cx="2579980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863040"/>
            <a:ext cx="5824760" cy="72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b="true" sz="3185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4: Quality Education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5046152"/>
            <a:ext cx="9895580" cy="72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b="true" sz="3185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9: Industry, Innovation, and Infrastructure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705155"/>
            <a:ext cx="9654716" cy="1154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Ensures inclusive, high-quality education and lifelong learning.</a:t>
            </a:r>
          </a:p>
          <a:p>
            <a:pPr algn="l" marL="468502" indent="-234251" lvl="1">
              <a:lnSpc>
                <a:spcPts val="3037"/>
              </a:lnSpc>
              <a:buFont typeface="Arial"/>
              <a:buChar char="•"/>
            </a:pPr>
            <a:r>
              <a:rPr lang="en-US" sz="216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Supports economic and social progress through educational investments.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888267"/>
            <a:ext cx="10438005" cy="115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818" indent="-234409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Develops resilient infrastructure and promotes industrial growth.</a:t>
            </a:r>
          </a:p>
          <a:p>
            <a:pPr algn="l" marL="468818" indent="-234409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Enhances trade, market access, and economic expansion through transport investments.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229226"/>
            <a:ext cx="9895580" cy="72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5"/>
              </a:lnSpc>
            </a:pPr>
            <a:r>
              <a:rPr lang="en-US" b="true" sz="3185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17: Partnerships for the Goals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071342"/>
            <a:ext cx="10438005" cy="115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8818" indent="-234409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Strengthens global partnerships for sustainable development.</a:t>
            </a:r>
          </a:p>
          <a:p>
            <a:pPr algn="l" marL="468818" indent="-234409" lvl="1">
              <a:lnSpc>
                <a:spcPts val="3040"/>
              </a:lnSpc>
              <a:buFont typeface="Arial"/>
              <a:buChar char="•"/>
            </a:pPr>
            <a:r>
              <a:rPr lang="en-US" sz="2171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Encourages collaboration to overcome financial constraints in development projects.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9247" y="1037593"/>
            <a:ext cx="8957482" cy="172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24"/>
              </a:lnSpc>
              <a:spcBef>
                <a:spcPct val="0"/>
              </a:spcBef>
            </a:pPr>
            <a:r>
              <a:rPr lang="en-US" b="true" sz="5673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GOVERNMENT INITIATIVES FOR SDGS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393984"/>
            <a:ext cx="2238290" cy="1048552"/>
            <a:chOff x="0" y="0"/>
            <a:chExt cx="677591" cy="3174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601589" y="1918260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364645" y="1918245"/>
            <a:ext cx="3255785" cy="6511570"/>
            <a:chOff x="0" y="0"/>
            <a:chExt cx="3175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108102" t="0" r="-108102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871105" y="9191625"/>
            <a:ext cx="2627927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184307"/>
            <a:ext cx="5283116" cy="656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288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4 Initiatives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278106"/>
            <a:ext cx="5666686" cy="656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288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9 Initiatives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981425"/>
            <a:ext cx="5283116" cy="656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b="true" sz="288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SDG 17 Initiatives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945007"/>
            <a:ext cx="10746695" cy="1181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55" indent="-239978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Invests in primary, secondary, and vocational education.</a:t>
            </a:r>
          </a:p>
          <a:p>
            <a:pPr algn="l" marL="479955" indent="-239978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Enhances teacher training, curriculum updates, and rural education access.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038807"/>
            <a:ext cx="9955581" cy="7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54" indent="-239977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Funds renewable energy projects and smart urban centers.</a:t>
            </a:r>
          </a:p>
          <a:p>
            <a:pPr algn="l" marL="479954" indent="-239977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Supports R&amp;D for innovation and industrial productivity growth.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734573"/>
            <a:ext cx="9955581" cy="157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9954" indent="-239977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Forms Public-Private Partnerships (PPPs) for infrastructure and social programs.</a:t>
            </a:r>
          </a:p>
          <a:p>
            <a:pPr algn="l" marL="479954" indent="-239977" lvl="1">
              <a:lnSpc>
                <a:spcPts val="3112"/>
              </a:lnSpc>
              <a:buFont typeface="Arial"/>
              <a:buChar char="•"/>
            </a:pPr>
            <a:r>
              <a:rPr lang="en-US" sz="22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Collaborates with private sector, international organizations, and civil society for resource mobilization.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078" y="551417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08966" y="1075693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139644" y="716537"/>
            <a:ext cx="6629196" cy="9386472"/>
          </a:xfrm>
          <a:custGeom>
            <a:avLst/>
            <a:gdLst/>
            <a:ahLst/>
            <a:cxnLst/>
            <a:rect r="r" b="b" t="t" l="l"/>
            <a:pathLst>
              <a:path h="9386472" w="6629196">
                <a:moveTo>
                  <a:pt x="0" y="0"/>
                </a:moveTo>
                <a:lnTo>
                  <a:pt x="6629196" y="0"/>
                </a:lnTo>
                <a:lnTo>
                  <a:pt x="6629196" y="9386472"/>
                </a:lnTo>
                <a:lnTo>
                  <a:pt x="0" y="93864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18669" y="560309"/>
            <a:ext cx="8957482" cy="89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24"/>
              </a:lnSpc>
              <a:spcBef>
                <a:spcPct val="0"/>
              </a:spcBef>
            </a:pPr>
            <a:r>
              <a:rPr lang="en-US" b="true" sz="5673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POSTER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71105" y="9191625"/>
            <a:ext cx="2627927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238290" cy="1048552"/>
            <a:chOff x="0" y="0"/>
            <a:chExt cx="677591" cy="317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7591" cy="317425"/>
            </a:xfrm>
            <a:custGeom>
              <a:avLst/>
              <a:gdLst/>
              <a:ahLst/>
              <a:cxnLst/>
              <a:rect r="r" b="b" t="t" l="l"/>
              <a:pathLst>
                <a:path h="317425" w="677591">
                  <a:moveTo>
                    <a:pt x="158713" y="0"/>
                  </a:moveTo>
                  <a:lnTo>
                    <a:pt x="518879" y="0"/>
                  </a:lnTo>
                  <a:cubicBezTo>
                    <a:pt x="560972" y="0"/>
                    <a:pt x="601341" y="16721"/>
                    <a:pt x="631105" y="46486"/>
                  </a:cubicBezTo>
                  <a:cubicBezTo>
                    <a:pt x="660870" y="76250"/>
                    <a:pt x="677591" y="116619"/>
                    <a:pt x="677591" y="158713"/>
                  </a:cubicBezTo>
                  <a:lnTo>
                    <a:pt x="677591" y="158713"/>
                  </a:lnTo>
                  <a:cubicBezTo>
                    <a:pt x="677591" y="246367"/>
                    <a:pt x="606533" y="317425"/>
                    <a:pt x="518879" y="317425"/>
                  </a:cubicBezTo>
                  <a:lnTo>
                    <a:pt x="158713" y="317425"/>
                  </a:lnTo>
                  <a:cubicBezTo>
                    <a:pt x="71058" y="317425"/>
                    <a:pt x="0" y="246367"/>
                    <a:pt x="0" y="158713"/>
                  </a:cubicBezTo>
                  <a:lnTo>
                    <a:pt x="0" y="158713"/>
                  </a:lnTo>
                  <a:cubicBezTo>
                    <a:pt x="0" y="71058"/>
                    <a:pt x="71058" y="0"/>
                    <a:pt x="1587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5170FF">
                      <a:alpha val="100000"/>
                    </a:srgbClr>
                  </a:gs>
                  <a:gs pos="100000">
                    <a:srgbClr val="FF66C4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677591" cy="384100"/>
            </a:xfrm>
            <a:prstGeom prst="rect">
              <a:avLst/>
            </a:prstGeom>
          </p:spPr>
          <p:txBody>
            <a:bodyPr anchor="ctr" rtlCol="false" tIns="44196" lIns="44196" bIns="44196" rIns="44196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601589" y="1552976"/>
            <a:ext cx="1092513" cy="0"/>
          </a:xfrm>
          <a:prstGeom prst="line">
            <a:avLst/>
          </a:prstGeom>
          <a:ln cap="rnd" w="28575">
            <a:gradFill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1234824">
            <a:off x="8319172" y="9251175"/>
            <a:ext cx="1649655" cy="3299310"/>
            <a:chOff x="0" y="0"/>
            <a:chExt cx="3175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2364645" y="2164574"/>
            <a:ext cx="3132621" cy="6265241"/>
            <a:chOff x="0" y="0"/>
            <a:chExt cx="317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144145" t="0" r="-56041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71105" y="9191625"/>
            <a:ext cx="2771765" cy="368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9247" y="1084586"/>
            <a:ext cx="5474753" cy="898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24"/>
              </a:lnSpc>
              <a:spcBef>
                <a:spcPct val="0"/>
              </a:spcBef>
            </a:pPr>
            <a:r>
              <a:rPr lang="en-US" b="true" sz="5673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4627" y="3058713"/>
            <a:ext cx="9277405" cy="514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92"/>
              </a:lnSpc>
              <a:spcBef>
                <a:spcPct val="0"/>
              </a:spcBef>
            </a:pP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This analysis highlights the government's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financial priorities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revealing challenges in balancing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operating and development expenditures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Revenue trends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show vulnerabilities to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external shocks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emphasizing the need for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economic diversification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and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 stabilization measures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. While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budget allocation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prioritizes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education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underfunding in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healthcare 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and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 agriculture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requires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policy adjustments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. Aligning fiscal strategies with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SDG 4, SDG 9, and SDG 17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is crucial for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 sustainable national growth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. Implementing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strategic reforms, optimizing costs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, and </a:t>
            </a:r>
            <a:r>
              <a:rPr lang="en-US" sz="2423">
                <a:solidFill>
                  <a:srgbClr val="8C52FF"/>
                </a:solidFill>
                <a:latin typeface="Poppins"/>
                <a:ea typeface="Poppins"/>
                <a:cs typeface="Poppins"/>
                <a:sym typeface="Poppins"/>
              </a:rPr>
              <a:t>leveraging public-private partnerships</a:t>
            </a:r>
            <a:r>
              <a:rPr lang="en-US" sz="2423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 can enhance financial efficiency and long-term economic resilience.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4824">
            <a:off x="11550427" y="1442943"/>
            <a:ext cx="3700557" cy="7401115"/>
            <a:chOff x="0" y="0"/>
            <a:chExt cx="317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82580" t="0" r="-117607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4824">
            <a:off x="15322128" y="5774327"/>
            <a:ext cx="1649655" cy="3299310"/>
            <a:chOff x="0" y="0"/>
            <a:chExt cx="317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4824">
            <a:off x="9829629" y="1213363"/>
            <a:ext cx="1649655" cy="3299310"/>
            <a:chOff x="0" y="0"/>
            <a:chExt cx="3175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170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7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3175000">
                  <a:moveTo>
                    <a:pt x="1587500" y="19050"/>
                  </a:moveTo>
                  <a:cubicBezTo>
                    <a:pt x="2452370" y="19050"/>
                    <a:pt x="3155950" y="722630"/>
                    <a:pt x="3155950" y="1587500"/>
                  </a:cubicBezTo>
                  <a:lnTo>
                    <a:pt x="3155950" y="4762500"/>
                  </a:lnTo>
                  <a:cubicBezTo>
                    <a:pt x="3155950" y="5627370"/>
                    <a:pt x="2452370" y="6330950"/>
                    <a:pt x="1587500" y="6330950"/>
                  </a:cubicBezTo>
                  <a:cubicBezTo>
                    <a:pt x="722630" y="6330950"/>
                    <a:pt x="19050" y="5627370"/>
                    <a:pt x="19050" y="4762500"/>
                  </a:cubicBezTo>
                  <a:lnTo>
                    <a:pt x="19050" y="1587500"/>
                  </a:lnTo>
                  <a:cubicBezTo>
                    <a:pt x="19050" y="722630"/>
                    <a:pt x="722630" y="19050"/>
                    <a:pt x="1587500" y="19050"/>
                  </a:cubicBezTo>
                  <a:moveTo>
                    <a:pt x="1587500" y="0"/>
                  </a:moveTo>
                  <a:cubicBezTo>
                    <a:pt x="711200" y="0"/>
                    <a:pt x="0" y="711200"/>
                    <a:pt x="0" y="1587500"/>
                  </a:cubicBezTo>
                  <a:lnTo>
                    <a:pt x="0" y="4762500"/>
                  </a:lnTo>
                  <a:cubicBezTo>
                    <a:pt x="0" y="5638800"/>
                    <a:pt x="711200" y="6350000"/>
                    <a:pt x="1587500" y="6350000"/>
                  </a:cubicBezTo>
                  <a:cubicBezTo>
                    <a:pt x="2463800" y="6350000"/>
                    <a:pt x="3175000" y="5638800"/>
                    <a:pt x="3175000" y="4762500"/>
                  </a:cubicBezTo>
                  <a:lnTo>
                    <a:pt x="3175000" y="1587500"/>
                  </a:lnTo>
                  <a:cubicBezTo>
                    <a:pt x="3175000" y="711200"/>
                    <a:pt x="2463800" y="0"/>
                    <a:pt x="1587500" y="0"/>
                  </a:cubicBezTo>
                  <a:lnTo>
                    <a:pt x="15875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962025"/>
            <a:ext cx="3501751" cy="4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E0B74"/>
                </a:solidFill>
                <a:latin typeface="Poppins"/>
                <a:ea typeface="Poppins"/>
                <a:cs typeface="Poppins"/>
                <a:sym typeface="Poppins"/>
              </a:rPr>
              <a:t>Lab Session 1C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9386" y="4159949"/>
            <a:ext cx="9030999" cy="190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02"/>
              </a:lnSpc>
              <a:spcBef>
                <a:spcPct val="0"/>
              </a:spcBef>
            </a:pPr>
            <a:r>
              <a:rPr lang="en-US" b="true" sz="12089">
                <a:solidFill>
                  <a:srgbClr val="2E0B7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DAGeMwn3whM</dc:identifier>
  <dcterms:modified xsi:type="dcterms:W3CDTF">2011-08-01T06:04:30Z</dcterms:modified>
  <cp:revision>1</cp:revision>
  <dc:title>2025 ASEAN SUSTAINABLE FUTURE SUMMIT</dc:title>
</cp:coreProperties>
</file>